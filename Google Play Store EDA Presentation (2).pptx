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</ns0:sldIdLst>
  <ns0:sldSz cx="12192000" cy="6858000" type="screen4x3"/>
  <ns0:notesSz cx="6858000" cy="9144000"/>
  <ns0:embeddedFontLst>
    <ns0:embeddedFont>
      <ns0:font typeface="JetBrains Mono"/>
      <ns0:bold ns1:id="rIdFont17"/>
      <ns0:regular ns1:id="rIdFont18"/>
    </ns0:embeddedFont>
    <ns0:embeddedFont>
      <ns0:font typeface="DM Sans"/>
      <ns0:bold ns1:id="rIdFont19"/>
      <ns0:regular ns1:id="rIdFont20"/>
    </ns0:embeddedFont>
    <ns0:embeddedFont>
      <ns0:font typeface="Space Grotesk"/>
      <ns0:bold ns1:id="rIdFont21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Font17" Type="http://schemas.openxmlformats.org/officeDocument/2006/relationships/font" Target="fonts/c759ded8-3ddf-452a-b9a6-48a30be21e2d.fntdata" /><ns0:Relationship Id="rIdFont18" Type="http://schemas.openxmlformats.org/officeDocument/2006/relationships/font" Target="fonts/7fe589aa-2b26-48cf-8ce5-71c6d8a2f086.fntdata" /><ns0:Relationship Id="rIdFont19" Type="http://schemas.openxmlformats.org/officeDocument/2006/relationships/font" Target="fonts/56392795-3800-4672-b39f-606d294fbb56.fntdata" /><ns0:Relationship Id="rIdFont20" Type="http://schemas.openxmlformats.org/officeDocument/2006/relationships/font" Target="fonts/a6c9c89a-2a95-4f07-ac13-c12ce1487558.fntdata" /><ns0:Relationship Id="rIdFont21" Type="http://schemas.openxmlformats.org/officeDocument/2006/relationships/font" Target="fonts/ad5e902b-a56b-427f-b9e8-de2060f6fba4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4081462"/>
            <a:ext cx="68580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919287"/>
            <a:ext cx="11430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8BDF8"/>
                </a:solidFill>
                <a:latin typeface="JetBrains Mono"/>
              </a:rPr>
              <a:t>PYTHON DATA ANALYTICS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300287"/>
            <a:ext cx="11430000" cy="657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175"/>
              </a:lnSpc>
            </a:pPr>
            <a:r>
              <a:rPr b="1" sz="4500" i="0" u="none">
                <a:solidFill>
                  <a:srgbClr val="F8FAFC"/>
                </a:solidFill>
                <a:latin typeface="Space Grotesk"/>
              </a:rPr>
              <a:t>Google Play Store Data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186112"/>
            <a:ext cx="75247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94A3B8"/>
                </a:solidFill>
                <a:latin typeface="DM Sans"/>
              </a:rPr>
              <a:t>Exploratory Data Analysis (EDA) on app categories, ratings, install trends, and pricing using Python.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4500562"/>
            <a:ext cx="37861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JetBrains Mono"/>
              </a:rPr>
              <a:t>LIBRARIES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4710112"/>
            <a:ext cx="378618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E2E8F0"/>
                </a:solidFill>
                <a:latin typeface="DM Sans"/>
              </a:rPr>
              <a:t>Pandas, NumPy, Matplotlib, Seaborn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48150" y="4500562"/>
            <a:ext cx="365521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JetBrains Mono"/>
              </a:rPr>
              <a:t>DATASET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48150" y="4710112"/>
            <a:ext cx="3655218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E2E8F0"/>
                </a:solidFill>
                <a:latin typeface="DM Sans"/>
              </a:rPr>
              <a:t>10,470 Raw Rows (10,000 Cleaned)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9525" y="4500562"/>
            <a:ext cx="3429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JetBrains Mono"/>
              </a:rPr>
              <a:t>WORKFLOW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9525" y="4710112"/>
            <a:ext cx="3429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E2E8F0"/>
                </a:solidFill>
                <a:latin typeface="DM Sans"/>
              </a:rPr>
              <a:t>Data Cleaning, EDA &amp; Regression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4114800"/>
            <a:ext cx="10972800" cy="9525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E40AF"/>
                </a:solidFill>
                <a:latin typeface="JetBrains Mono"/>
              </a:rPr>
              <a:t>DATASET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Dataset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43400"/>
            <a:ext cx="8761065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DM Sans"/>
              </a:rPr>
              <a:t>Note: Mean installs (5.97M) are much higher than median installs (63.5K) due to top viral apps.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80215" y="4391025"/>
            <a:ext cx="1792634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40AF"/>
                </a:solidFill>
                <a:latin typeface="JetBrains Mono"/>
              </a:rPr>
              <a:t>92% FREE • 8% PAID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705100"/>
            <a:ext cx="342900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b="1" sz="4800" i="0" u="none">
                <a:solidFill>
                  <a:srgbClr val="0F172A"/>
                </a:solidFill>
                <a:latin typeface="Space Grotesk"/>
              </a:rPr>
              <a:t>10,470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429000"/>
            <a:ext cx="3429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DM Sans"/>
              </a:rPr>
              <a:t>Raw rows in CSV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52800" y="2705100"/>
            <a:ext cx="342900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b="1" sz="4800" i="0" u="none">
                <a:solidFill>
                  <a:srgbClr val="1E40AF"/>
                </a:solidFill>
                <a:latin typeface="Space Grotesk"/>
              </a:rPr>
              <a:t>10,000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52800" y="3429000"/>
            <a:ext cx="3429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DM Sans"/>
              </a:rPr>
              <a:t>Cleaned unique apps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0" y="2705100"/>
            <a:ext cx="342900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b="1" sz="4800" i="0" u="none">
                <a:solidFill>
                  <a:srgbClr val="0D9488"/>
                </a:solidFill>
                <a:latin typeface="Space Grotesk"/>
              </a:rPr>
              <a:t>4.19★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0" y="3429000"/>
            <a:ext cx="3429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DM Sans"/>
              </a:rPr>
              <a:t>Overall mean rating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39200" y="2705100"/>
            <a:ext cx="335280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b="1" sz="4800" i="0" u="none">
                <a:solidFill>
                  <a:srgbClr val="E11D48"/>
                </a:solidFill>
                <a:latin typeface="Space Grotesk"/>
              </a:rPr>
              <a:t>32.7%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39200" y="3429000"/>
            <a:ext cx="33528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DM Sans"/>
              </a:rPr>
              <a:t>Mean 30-day uninstall rate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252662"/>
            <a:ext cx="10972800" cy="3267075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9600" y="2252662"/>
          <a:ext cx="10972797" cy="3267075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860946"/>
                <a:gridCol w="2694830"/>
                <a:gridCol w="1179611"/>
                <a:gridCol w="1525339"/>
                <a:gridCol w="3712071"/>
              </a:tblGrid>
              <a:tr h="544512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8FAFC"/>
                          </a:solidFill>
                          <a:latin typeface="Space Grotesk"/>
                        </a:rPr>
                        <a:t>Column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8FAFC"/>
                          </a:solidFill>
                          <a:latin typeface="Space Grotesk"/>
                        </a:rPr>
                        <a:t>Issue in Raw Data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8FAFC"/>
                          </a:solidFill>
                          <a:latin typeface="Space Grotesk"/>
                        </a:rPr>
                        <a:t>Raw (%)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8FAFC"/>
                          </a:solidFill>
                          <a:latin typeface="Space Grotesk"/>
                        </a:rPr>
                        <a:t>Cleaned (%)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8FAFC"/>
                          </a:solidFill>
                          <a:latin typeface="Space Grotesk"/>
                        </a:rPr>
                        <a:t>Python Method Applied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544512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DM Sans"/>
                        </a:rPr>
                        <a:t>Rating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DM Sans"/>
                        </a:rPr>
                        <a:t>Missing (NaN) values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E11D48"/>
                          </a:solidFill>
                          <a:latin typeface="JetBrains Mono"/>
                        </a:rPr>
                        <a:t>13.60%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D9488"/>
                          </a:solidFill>
                          <a:latin typeface="JetBrains Mono"/>
                        </a:rPr>
                        <a:t>0.00%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F172A"/>
                          </a:solidFill>
                          <a:latin typeface="DM Sans"/>
                        </a:rPr>
                        <a:t>groupby('Category') median fillna()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44512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DM Sans"/>
                        </a:rPr>
                        <a:t>APK_Size_Raw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DM Sans"/>
                        </a:rPr>
                        <a:t>"Varies with device" text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E11D48"/>
                          </a:solidFill>
                          <a:latin typeface="JetBrains Mono"/>
                        </a:rPr>
                        <a:t>15.60%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D9488"/>
                          </a:solidFill>
                          <a:latin typeface="JetBrains Mono"/>
                        </a:rPr>
                        <a:t>0.00%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F172A"/>
                          </a:solidFill>
                          <a:latin typeface="DM Sans"/>
                        </a:rPr>
                        <a:t>str.replace('M', '') &amp; median fillna()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44512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DM Sans"/>
                        </a:rPr>
                        <a:t>App_ID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DM Sans"/>
                        </a:rPr>
                        <a:t>470 duplicate rows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E11D48"/>
                          </a:solidFill>
                          <a:latin typeface="JetBrains Mono"/>
                        </a:rPr>
                        <a:t>4.50%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D9488"/>
                          </a:solidFill>
                          <a:latin typeface="JetBrains Mono"/>
                        </a:rPr>
                        <a:t>0.00%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F172A"/>
                          </a:solidFill>
                          <a:latin typeface="DM Sans"/>
                        </a:rPr>
                        <a:t>df.drop_duplicates(subset=['App_ID'])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44512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DM Sans"/>
                        </a:rPr>
                        <a:t>Price_USD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DM Sans"/>
                        </a:rPr>
                        <a:t>$399.99 outlier entries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E11D48"/>
                          </a:solidFill>
                          <a:latin typeface="JetBrains Mono"/>
                        </a:rPr>
                        <a:t>2.80%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D9488"/>
                          </a:solidFill>
                          <a:latin typeface="JetBrains Mono"/>
                        </a:rPr>
                        <a:t>0.40%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F172A"/>
                          </a:solidFill>
                          <a:latin typeface="DM Sans"/>
                        </a:rPr>
                        <a:t>1.5× IQR capping (&gt;$29.99 to $9.99)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4451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DM Sans"/>
                        </a:rPr>
                        <a:t>Installs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DM Sans"/>
                        </a:rPr>
                        <a:t>High right skewness (2.95)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E11D48"/>
                          </a:solidFill>
                          <a:latin typeface="JetBrains Mono"/>
                        </a:rPr>
                        <a:t>5.20%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D9488"/>
                          </a:solidFill>
                          <a:latin typeface="JetBrains Mono"/>
                        </a:rPr>
                        <a:t>0.80%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F172A"/>
                          </a:solidFill>
                          <a:latin typeface="DM Sans"/>
                        </a:rPr>
                        <a:t>np.log10() transformation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E40AF"/>
                </a:solidFill>
                <a:latin typeface="JetBrains Mono"/>
              </a:rPr>
              <a:t>DATA PREPROCESSING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Data Cleaning &amp; Missing Values Summary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485900"/>
            <a:ext cx="6364188" cy="47625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1600200"/>
            <a:ext cx="6135588" cy="4533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E40AF"/>
                </a:solidFill>
                <a:latin typeface="JetBrains Mono"/>
              </a:rPr>
              <a:t>VISUALIZATION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EDA Summary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6688" y="2539603"/>
            <a:ext cx="4360961" cy="5066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95"/>
              </a:lnSpc>
            </a:pPr>
            <a:r>
              <a:rPr b="1" sz="1425" i="0" u="none">
                <a:solidFill>
                  <a:srgbClr val="0F172A"/>
                </a:solidFill>
                <a:latin typeface="DM Sans"/>
              </a:rPr>
              <a:t>1. Category Count:</a:t>
            </a:r>
            <a:r>
              <a:rPr b="0" sz="1425" i="0" u="none">
                <a:solidFill>
                  <a:srgbClr val="475569"/>
                </a:solidFill>
                <a:latin typeface="DM Sans"/>
              </a:rPr>
              <a:t> Family leads followed by Game and Tools.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6688" y="3255764"/>
            <a:ext cx="4360961" cy="5066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95"/>
              </a:lnSpc>
            </a:pPr>
            <a:r>
              <a:rPr b="1" sz="1425" i="0" u="none">
                <a:solidFill>
                  <a:srgbClr val="0F172A"/>
                </a:solidFill>
                <a:latin typeface="DM Sans"/>
              </a:rPr>
              <a:t>2. Content Rating:</a:t>
            </a:r>
            <a:r>
              <a:rPr b="0" sz="1425" i="0" u="none">
                <a:solidFill>
                  <a:srgbClr val="475569"/>
                </a:solidFill>
                <a:latin typeface="DM Sans"/>
              </a:rPr>
              <a:t> "Everyone" category holds ~1,390 apps (77.4%).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6688" y="3971925"/>
            <a:ext cx="4360961" cy="5066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95"/>
              </a:lnSpc>
            </a:pPr>
            <a:r>
              <a:rPr b="1" sz="1425" i="0" u="none">
                <a:solidFill>
                  <a:srgbClr val="0F172A"/>
                </a:solidFill>
                <a:latin typeface="DM Sans"/>
              </a:rPr>
              <a:t>3. Free vs Paid Boxplot:</a:t>
            </a:r>
            <a:r>
              <a:rPr b="0" sz="1425" i="0" u="none">
                <a:solidFill>
                  <a:srgbClr val="475569"/>
                </a:solidFill>
                <a:latin typeface="DM Sans"/>
              </a:rPr>
              <a:t> Paid apps show higher median rating (~4.30★).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6688" y="4688085"/>
            <a:ext cx="4360961" cy="5066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95"/>
              </a:lnSpc>
            </a:pPr>
            <a:r>
              <a:rPr b="1" sz="1425" i="0" u="none">
                <a:solidFill>
                  <a:srgbClr val="0F172A"/>
                </a:solidFill>
                <a:latin typeface="DM Sans"/>
              </a:rPr>
              <a:t>4. Size Distribution:</a:t>
            </a:r>
            <a:r>
              <a:rPr b="0" sz="1425" i="0" u="none">
                <a:solidFill>
                  <a:srgbClr val="475569"/>
                </a:solidFill>
                <a:latin typeface="DM Sans"/>
              </a:rPr>
              <a:t> App sizes peak around 45–50 MB.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E40AF"/>
                </a:solidFill>
                <a:latin typeface="JetBrains Mono"/>
              </a:rPr>
              <a:t>UNIVARIATE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Top Categories by App Count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252662"/>
            <a:ext cx="5257800" cy="3267075"/>
          </a:xfrm>
          <a:prstGeom prst="roundRect">
            <a:avLst>
              <a:gd name="adj" fmla="val 466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324600" y="2252662"/>
            <a:ext cx="5257800" cy="3267075"/>
          </a:xfrm>
          <a:prstGeom prst="roundRect">
            <a:avLst>
              <a:gd name="adj" fmla="val 466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E40AF"/>
                </a:solidFill>
                <a:latin typeface="JetBrains Mono"/>
              </a:rPr>
              <a:t>UNIVARIATE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Free vs. Paid Apps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500" y="2595562"/>
            <a:ext cx="5715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E40AF"/>
                </a:solidFill>
                <a:latin typeface="JetBrains Mono"/>
              </a:rPr>
              <a:t>FREE APPS (9,195)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500" y="2862262"/>
            <a:ext cx="5715000" cy="723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4200" i="0" u="none">
                <a:solidFill>
                  <a:srgbClr val="0F172A"/>
                </a:solidFill>
                <a:latin typeface="Space Grotesk"/>
              </a:rPr>
              <a:t>4.18★ Mean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7500" y="2595562"/>
            <a:ext cx="55245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D97706"/>
                </a:solidFill>
                <a:latin typeface="JetBrains Mono"/>
              </a:rPr>
              <a:t>PAID APPS (805)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7500" y="2862262"/>
            <a:ext cx="5524500" cy="723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4200" i="0" u="none">
                <a:solidFill>
                  <a:srgbClr val="D97706"/>
                </a:solidFill>
                <a:latin typeface="Space Grotesk"/>
              </a:rPr>
              <a:t>4.31★ Mean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3814762"/>
            <a:ext cx="57150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DM Sans"/>
              </a:rPr>
              <a:t>Share of Apps:</a:t>
            </a:r>
            <a:r>
              <a:rPr b="0" sz="1425" i="0" u="none">
                <a:solidFill>
                  <a:srgbClr val="475569"/>
                </a:solidFill>
                <a:latin typeface="DM Sans"/>
              </a:rPr>
              <a:t> 91.95% of dataset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500" y="4186237"/>
            <a:ext cx="57150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DM Sans"/>
              </a:rPr>
              <a:t>Median Rating:</a:t>
            </a:r>
            <a:r>
              <a:rPr b="0" sz="1425" i="0" u="none">
                <a:solidFill>
                  <a:srgbClr val="475569"/>
                </a:solidFill>
                <a:latin typeface="DM Sans"/>
              </a:rPr>
              <a:t> 4.20★ after imputation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500" y="4567237"/>
            <a:ext cx="57150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DM Sans"/>
              </a:rPr>
              <a:t>Mean Log Installs:</a:t>
            </a:r>
            <a:r>
              <a:rPr b="0" sz="1425" i="0" u="none">
                <a:solidFill>
                  <a:srgbClr val="475569"/>
                </a:solidFill>
                <a:latin typeface="DM Sans"/>
              </a:rPr>
              <a:t> 4.85 (~70K installs)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2500" y="4938712"/>
            <a:ext cx="57150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DM Sans"/>
              </a:rPr>
              <a:t>30d Uninstall Rate:</a:t>
            </a:r>
            <a:r>
              <a:rPr b="0" sz="1425" i="0" u="none">
                <a:solidFill>
                  <a:srgbClr val="475569"/>
                </a:solidFill>
                <a:latin typeface="DM Sans"/>
              </a:rPr>
              <a:t> 32.66% average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67500" y="3814762"/>
            <a:ext cx="55245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DM Sans"/>
              </a:rPr>
              <a:t>Share of Apps:</a:t>
            </a:r>
            <a:r>
              <a:rPr b="0" sz="1425" i="0" u="none">
                <a:solidFill>
                  <a:srgbClr val="475569"/>
                </a:solidFill>
                <a:latin typeface="DM Sans"/>
              </a:rPr>
              <a:t> 8.05% of dataset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67500" y="4186237"/>
            <a:ext cx="55245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DM Sans"/>
              </a:rPr>
              <a:t>Median Rating:</a:t>
            </a:r>
            <a:r>
              <a:rPr b="0" sz="1425" i="0" u="none">
                <a:solidFill>
                  <a:srgbClr val="475569"/>
                </a:solidFill>
                <a:latin typeface="DM Sans"/>
              </a:rPr>
              <a:t> 4.25★ (+0.13★ higher mean)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67500" y="4567237"/>
            <a:ext cx="55245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DM Sans"/>
              </a:rPr>
              <a:t>Mean Log Installs:</a:t>
            </a:r>
            <a:r>
              <a:rPr b="0" sz="1425" i="0" u="none">
                <a:solidFill>
                  <a:srgbClr val="475569"/>
                </a:solidFill>
                <a:latin typeface="DM Sans"/>
              </a:rPr>
              <a:t> 4.45 (~28K installs)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67500" y="4938712"/>
            <a:ext cx="55245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DM Sans"/>
              </a:rPr>
              <a:t>30d Uninstall Rate:</a:t>
            </a:r>
            <a:r>
              <a:rPr b="0" sz="1425" i="0" u="none">
                <a:solidFill>
                  <a:srgbClr val="475569"/>
                </a:solidFill>
                <a:latin typeface="DM Sans"/>
              </a:rPr>
              <a:t> 33.25% average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11D48"/>
                </a:solidFill>
                <a:latin typeface="JetBrains Mono"/>
              </a:rPr>
              <a:t>BIVARIATE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App Size (MB) vs. 30-Day Uninstall Rate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6710" y="4224635"/>
            <a:ext cx="5298430" cy="64695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9610" y="4415135"/>
            <a:ext cx="4612630" cy="2659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E40AF"/>
                </a:solidFill>
                <a:latin typeface="JetBrains Mono"/>
              </a:rPr>
              <a:t>REGRESSION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Reviews vs. Installs (NumPy OLS Fit)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1437" y="2386310"/>
            <a:ext cx="5536406" cy="1028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8100"/>
              </a:lnSpc>
            </a:pPr>
            <a:r>
              <a:rPr b="1" sz="8100" i="0" u="none">
                <a:solidFill>
                  <a:srgbClr val="1E40AF"/>
                </a:solidFill>
                <a:latin typeface="Space Grotesk"/>
              </a:rPr>
              <a:t>R² = 0.94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04937" y="3681710"/>
            <a:ext cx="10787062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475569"/>
                </a:solidFill>
                <a:latin typeface="DM Sans"/>
              </a:rPr>
              <a:t>Strong positive linear relationship (Correlation r = 0.97) between Log(Reviews) and Log(Installs)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28787" y="5138291"/>
            <a:ext cx="10463212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DM Sans"/>
              </a:rPr>
              <a:t>Observation: 51.9% of apps have 4.20★+ ratings, and the top 5% of apps account for 89% of installs.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97706"/>
                </a:solidFill>
                <a:latin typeface="JetBrains Mono"/>
              </a:rPr>
              <a:t>BIVARIATE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App Price vs. Download Demand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57250" y="3019425"/>
            <a:ext cx="3314700" cy="1352550"/>
          </a:xfrm>
          <a:prstGeom prst="roundRect">
            <a:avLst>
              <a:gd name="adj" fmla="val 845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438650" y="2905125"/>
            <a:ext cx="3314700" cy="1581150"/>
          </a:xfrm>
          <a:prstGeom prst="roundRect">
            <a:avLst>
              <a:gd name="adj" fmla="val 7228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20050" y="3009900"/>
            <a:ext cx="3314700" cy="137160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36418" y="1619250"/>
            <a:ext cx="91916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38BDF8"/>
                </a:solidFill>
                <a:latin typeface="JetBrains Mono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57982" y="1943100"/>
            <a:ext cx="8276034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F8FAFC"/>
                </a:solidFill>
                <a:latin typeface="Space Grotesk"/>
              </a:rPr>
              <a:t>Conclusion &amp; Key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75671" y="4943475"/>
            <a:ext cx="1440656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E2E8F0"/>
                </a:solidFill>
                <a:latin typeface="Space Grotesk"/>
              </a:rP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5850" y="3286125"/>
            <a:ext cx="35718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JetBrains Mono"/>
              </a:rPr>
              <a:t>1. APP SIZE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5850" y="3533775"/>
            <a:ext cx="3750468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8FAFC"/>
                </a:solidFill>
                <a:latin typeface="Space Grotesk"/>
              </a:rPr>
              <a:t>Keep APK Under 25 MB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5850" y="3876675"/>
            <a:ext cx="35718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94A3B8"/>
                </a:solidFill>
                <a:latin typeface="DM Sans"/>
              </a:rPr>
              <a:t>Lowers 30-day uninstalls to 21.4%.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7250" y="3171825"/>
            <a:ext cx="35718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BBF24"/>
                </a:solidFill>
                <a:latin typeface="JetBrains Mono"/>
              </a:rPr>
              <a:t>2. PRICING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7250" y="3419475"/>
            <a:ext cx="3750468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8FAFC"/>
                </a:solidFill>
                <a:latin typeface="Space Grotesk"/>
              </a:rPr>
              <a:t>Price Within $0.99–$2.99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7250" y="3762375"/>
            <a:ext cx="29527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94A3B8"/>
                </a:solidFill>
                <a:latin typeface="DM Sans"/>
              </a:rPr>
              <a:t>Gives 3.1x better download conversion.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8650" y="3276600"/>
            <a:ext cx="35718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4D399"/>
                </a:solidFill>
                <a:latin typeface="JetBrains Mono"/>
              </a:rPr>
              <a:t>3. USER REVIEWS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8650" y="3524250"/>
            <a:ext cx="3750468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8FAFC"/>
                </a:solidFill>
                <a:latin typeface="Space Grotesk"/>
              </a:rPr>
              <a:t>Target 4.20★+ Rating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8650" y="3886200"/>
            <a:ext cx="35718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94A3B8"/>
                </a:solidFill>
                <a:latin typeface="DM Sans"/>
              </a:rPr>
              <a:t>Improves store visibility via reviews.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